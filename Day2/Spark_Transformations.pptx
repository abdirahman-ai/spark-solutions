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Today we're covering how Spark actually moves data around behind the scenes: the difference between transformations that stay put versus ones that force data across the network, the tools we use to control how data is split up (repartition, coalesce, partitionBy), and two storage-side tricks -- Parquet files and bucketing -- that make later jobs faster. Think of this as: what's expensive, why it's expensive, and how we manage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question for any transformation: does an output partition need data from just one input partition, or from several? Narrow transformations are like each person on a team finishing their own stack of papers without needing anyone else's -- no talking, no handing things across the room. Filter and map are narrow because each partition can be processed alone. Wide transformations are the opposite: to group or join data correctly, Spark has to compare records that might live on completely different machines, so data has to move. That movement is the shuffle, which we'll get into next. Good line to say out loud: 'narrow keeps data where it is, wide makes data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Shuffling is the mechanism behind every wide transformation. Picture reorganizing every locker in a school so that students with the same last initial end up in the same hallway -- you have to open every locker, carry things down the hall, and re-file them somewhere new. That's a shuffle: write everything out, move it across the network, read it back in on a different machine. It touches disk and network at the same time, which is why it's the single most expensive thing that happens in a Spark job. Whenever someone asks 'why is my job slow,' the shuffle is usually the first place to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repartition is the heavy-duty tool: it can go up or down in partition count, but no matter what, it does a full shuffle -- it's like calling everyone back to the office and completely reassigning every desk, even if all you wanted was two more desks. That's expensive, but the payoff is that every partition ends up roughly the same size. Reach for this when your data is lopsided (a few partitions doing all the work) or when you're about to run something heavy and want more workers sharing the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coalesce only goes one direction: fewer partitions. And instead of a full reshuffle, it just merges nearby partitions where they already sit -- like combining desks from adjacent rooms instead of moving everyone across the building. Much cheaper, but the trade-off is you can end up with uneven partitions since it's not redistributing everything evenly. The classic use case: you filtered a huge dataset down to a small one and now you have way more partitions than you need, so before writing it out you coalesce down to a handful of reasonably-sized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side-by-side I want students to walk away remembering. If they only remember one line: repartition always pays the full shuffle cost to get even partitions; coalesce tries to avoid that cost but can leave things uneven. Neither is 'better' -- it depends whether you need balance (repartition) or you need cheap (coalesce).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partitionBy is different from the other two -- it's not about shuffling in memory, it's about how data lands on disk when you write it. It's like filing paperwork into labeled folders by year instead of one giant pile: if someone later asks for just 2024 records, they open one folder instead of digging through everything. That's the real benefit -- future reads can skip folders entirely, which is called partition pruning. The catch: pick a column with a reasonable number of distinct values. Partitioning by something like a user ID would create millions of tiny folders, which causes its own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storage-side tricks that pay off later. Parquet stores data column-by-column instead of row-by-row -- think of a spreadsheet turned on its side. If a query only needs two out of twenty columns, Parquet lets Spark skip reading the other eighteen entirely, plus it compresses well and carries its own schema, so you're not re-typing column definitions every time. Bucketing is a bit like bucketing at write time instead of query time: you decide up front on a fixed number of bins and hash a column into those bins once. The payoff shows up later -- if two tables are bucketed the same way on the same column, joining them doesn't require a fresh shuffle, because matching records are already sitting in matching buckets. Good closing line: 'partitionBy organizes by folder, bucketing organizes within files -- both are about paying the shuffle cost once, up front, instead of over and over at query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D"/>
        </a:solidFill>
      </p:bgPr>
    </p:bg>
    <p:spTree>
      <p:nvGrpSpPr>
        <p:cNvPr id="1" name=""/>
        <p:cNvGrpSpPr/>
        <p:nvPr/>
      </p:nvGrpSpPr>
      <p:grpSpPr>
        <a:xfrm>
          <a:off x="0" y="0"/>
          <a:ext cx="0" cy="0"/>
          <a:chOff x="0" y="0"/>
          <a:chExt cx="0" cy="0"/>
        </a:xfrm>
      </p:grpSpPr>
      <p:sp>
        <p:nvSpPr>
          <p:cNvPr id="2" name="Shape 0"/>
          <p:cNvSpPr/>
          <p:nvPr/>
        </p:nvSpPr>
        <p:spPr>
          <a:xfrm>
            <a:off x="822960" y="822960"/>
            <a:ext cx="1005840" cy="1005840"/>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1084478" y="1084478"/>
            <a:ext cx="482803" cy="482803"/>
          </a:xfrm>
          <a:prstGeom prst="rect">
            <a:avLst/>
          </a:prstGeom>
        </p:spPr>
      </p:pic>
      <p:sp>
        <p:nvSpPr>
          <p:cNvPr id="4" name="Text 1"/>
          <p:cNvSpPr/>
          <p:nvPr/>
        </p:nvSpPr>
        <p:spPr>
          <a:xfrm>
            <a:off x="822960" y="2194560"/>
            <a:ext cx="10515600" cy="914400"/>
          </a:xfrm>
          <a:prstGeom prst="rect">
            <a:avLst/>
          </a:prstGeom>
          <a:noFill/>
          <a:ln/>
        </p:spPr>
        <p:txBody>
          <a:bodyPr wrap="square"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Spark Transformations</a:t>
            </a:r>
            <a:endParaRPr lang="en-US" sz="4000" dirty="0"/>
          </a:p>
        </p:txBody>
      </p:sp>
      <p:sp>
        <p:nvSpPr>
          <p:cNvPr id="5" name="Text 2"/>
          <p:cNvSpPr/>
          <p:nvPr/>
        </p:nvSpPr>
        <p:spPr>
          <a:xfrm>
            <a:off x="822960" y="3063240"/>
            <a:ext cx="10058400" cy="548640"/>
          </a:xfrm>
          <a:prstGeom prst="rect">
            <a:avLst/>
          </a:prstGeom>
          <a:noFill/>
          <a:ln/>
        </p:spPr>
        <p:txBody>
          <a:bodyPr wrap="square" rtlCol="0" anchor="ctr"/>
          <a:lstStyle/>
          <a:p>
            <a:pPr algn="l" indent="0" marL="0">
              <a:buNone/>
            </a:pPr>
            <a:r>
              <a:rPr lang="en-US" sz="2000" dirty="0">
                <a:solidFill>
                  <a:srgbClr val="CADCE3"/>
                </a:solidFill>
                <a:latin typeface="Calibri" pitchFamily="34" charset="0"/>
                <a:ea typeface="Calibri" pitchFamily="34" charset="-122"/>
                <a:cs typeface="Calibri" pitchFamily="34" charset="-120"/>
              </a:rPr>
              <a:t>Shuffling, Partitioning, and How Spark Organizes Data</a:t>
            </a:r>
            <a:endParaRPr lang="en-US" sz="2000" dirty="0"/>
          </a:p>
        </p:txBody>
      </p:sp>
      <p:sp>
        <p:nvSpPr>
          <p:cNvPr id="6" name="Text 3"/>
          <p:cNvSpPr/>
          <p:nvPr/>
        </p:nvSpPr>
        <p:spPr>
          <a:xfrm>
            <a:off x="822960" y="3977640"/>
            <a:ext cx="10058400" cy="457200"/>
          </a:xfrm>
          <a:prstGeom prst="rect">
            <a:avLst/>
          </a:prstGeom>
          <a:noFill/>
          <a:ln/>
        </p:spPr>
        <p:txBody>
          <a:bodyPr wrap="square" rtlCol="0" anchor="ctr"/>
          <a:lstStyle/>
          <a:p>
            <a:pPr algn="l" indent="0" marL="0">
              <a:buNone/>
            </a:pPr>
            <a:r>
              <a:rPr lang="en-US" sz="1300" dirty="0">
                <a:solidFill>
                  <a:srgbClr val="8FB3C2"/>
                </a:solidFill>
                <a:latin typeface="Calibri" pitchFamily="34" charset="0"/>
                <a:ea typeface="Calibri" pitchFamily="34" charset="-122"/>
                <a:cs typeface="Calibri" pitchFamily="34" charset="-120"/>
              </a:rPr>
              <a:t>Narrow vs. Wide  •  Shuffling  •  repartition()  •  coalesce()  •  partitionBy()  •  Parquet  •  Bucketing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Narrow vs. Wide Transformations</a:t>
            </a:r>
            <a:endParaRPr lang="en-US" sz="3000" dirty="0"/>
          </a:p>
        </p:txBody>
      </p:sp>
      <p:sp>
        <p:nvSpPr>
          <p:cNvPr id="3" name="Shape 1"/>
          <p:cNvSpPr/>
          <p:nvPr/>
        </p:nvSpPr>
        <p:spPr>
          <a:xfrm>
            <a:off x="548640" y="1371600"/>
            <a:ext cx="5303520" cy="3749040"/>
          </a:xfrm>
          <a:prstGeom prst="roundRect">
            <a:avLst>
              <a:gd name="adj" fmla="val 1951"/>
            </a:avLst>
          </a:prstGeom>
          <a:solidFill>
            <a:srgbClr val="F3F7F9"/>
          </a:solidFill>
          <a:ln/>
          <a:effectLst>
            <a:outerShdw sx="100000" sy="100000" kx="0" ky="0" algn="bl" rotWithShape="0" blurRad="76200" dist="25400" dir="2700000">
              <a:srgbClr val="000000">
                <a:alpha val="12000"/>
              </a:srgbClr>
            </a:outerShdw>
          </a:effectLst>
        </p:spPr>
      </p:sp>
      <p:sp>
        <p:nvSpPr>
          <p:cNvPr id="4" name="Shape 2"/>
          <p:cNvSpPr/>
          <p:nvPr/>
        </p:nvSpPr>
        <p:spPr>
          <a:xfrm>
            <a:off x="868680" y="1691640"/>
            <a:ext cx="640080" cy="640080"/>
          </a:xfrm>
          <a:prstGeom prst="ellipse">
            <a:avLst/>
          </a:prstGeom>
          <a:solidFill>
            <a:srgbClr val="E4EEF3"/>
          </a:solidFill>
          <a:ln/>
        </p:spPr>
      </p:sp>
      <p:pic>
        <p:nvPicPr>
          <p:cNvPr id="5" name="Image 0" descr="preencoded.png">    </p:cNvPr>
          <p:cNvPicPr>
            <a:picLocks noChangeAspect="1"/>
          </p:cNvPicPr>
          <p:nvPr/>
        </p:nvPicPr>
        <p:blipFill>
          <a:blip r:embed="rId1"/>
          <a:stretch>
            <a:fillRect/>
          </a:stretch>
        </p:blipFill>
        <p:spPr>
          <a:xfrm>
            <a:off x="1035101" y="1858061"/>
            <a:ext cx="307238" cy="307238"/>
          </a:xfrm>
          <a:prstGeom prst="rect">
            <a:avLst/>
          </a:prstGeom>
        </p:spPr>
      </p:pic>
      <p:sp>
        <p:nvSpPr>
          <p:cNvPr id="6" name="Text 3"/>
          <p:cNvSpPr/>
          <p:nvPr/>
        </p:nvSpPr>
        <p:spPr>
          <a:xfrm>
            <a:off x="1645920" y="1737360"/>
            <a:ext cx="3657600" cy="457200"/>
          </a:xfrm>
          <a:prstGeom prst="rect">
            <a:avLst/>
          </a:prstGeom>
          <a:noFill/>
          <a:ln/>
        </p:spPr>
        <p:txBody>
          <a:bodyPr wrap="square"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Narrow</a:t>
            </a:r>
            <a:endParaRPr lang="en-US" sz="2000" dirty="0"/>
          </a:p>
        </p:txBody>
      </p:sp>
      <p:sp>
        <p:nvSpPr>
          <p:cNvPr id="7" name="Text 4"/>
          <p:cNvSpPr/>
          <p:nvPr/>
        </p:nvSpPr>
        <p:spPr>
          <a:xfrm>
            <a:off x="868680" y="2514600"/>
            <a:ext cx="4663440" cy="2377440"/>
          </a:xfrm>
          <a:prstGeom prst="rect">
            <a:avLst/>
          </a:prstGeom>
          <a:noFill/>
          <a:ln/>
        </p:spPr>
        <p:txBody>
          <a:bodyPr wrap="square" rtlCol="0" anchor="ctr"/>
          <a:lstStyle/>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Each output partition depends on exactly one input partition</a:t>
            </a:r>
            <a:endParaRPr lang="en-US" sz="1400" dirty="0"/>
          </a:p>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No data crosses the network</a:t>
            </a:r>
            <a:endParaRPr lang="en-US" sz="1400" dirty="0"/>
          </a:p>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Examples: map(), filter(), union()</a:t>
            </a:r>
            <a:endParaRPr lang="en-US" sz="1400" dirty="0"/>
          </a:p>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Fast — each worker just works on its own slice</a:t>
            </a:r>
            <a:endParaRPr lang="en-US" sz="1400" dirty="0"/>
          </a:p>
        </p:txBody>
      </p:sp>
      <p:sp>
        <p:nvSpPr>
          <p:cNvPr id="8" name="Shape 5"/>
          <p:cNvSpPr/>
          <p:nvPr/>
        </p:nvSpPr>
        <p:spPr>
          <a:xfrm>
            <a:off x="6126480" y="1371600"/>
            <a:ext cx="5303520" cy="3749040"/>
          </a:xfrm>
          <a:prstGeom prst="roundRect">
            <a:avLst>
              <a:gd name="adj" fmla="val 1951"/>
            </a:avLst>
          </a:prstGeom>
          <a:solidFill>
            <a:srgbClr val="F3F7F9"/>
          </a:solidFill>
          <a:ln/>
          <a:effectLst>
            <a:outerShdw sx="100000" sy="100000" kx="0" ky="0" algn="bl" rotWithShape="0" blurRad="76200" dist="25400" dir="2700000">
              <a:srgbClr val="000000">
                <a:alpha val="12000"/>
              </a:srgbClr>
            </a:outerShdw>
          </a:effectLst>
        </p:spPr>
      </p:sp>
      <p:sp>
        <p:nvSpPr>
          <p:cNvPr id="9" name="Shape 6"/>
          <p:cNvSpPr/>
          <p:nvPr/>
        </p:nvSpPr>
        <p:spPr>
          <a:xfrm>
            <a:off x="6446520" y="1691640"/>
            <a:ext cx="640080" cy="640080"/>
          </a:xfrm>
          <a:prstGeom prst="ellipse">
            <a:avLst/>
          </a:prstGeom>
          <a:solidFill>
            <a:srgbClr val="E4E6F0"/>
          </a:solidFill>
          <a:ln/>
        </p:spPr>
      </p:sp>
      <p:pic>
        <p:nvPicPr>
          <p:cNvPr id="10" name="Image 1" descr="preencoded.png">    </p:cNvPr>
          <p:cNvPicPr>
            <a:picLocks noChangeAspect="1"/>
          </p:cNvPicPr>
          <p:nvPr/>
        </p:nvPicPr>
        <p:blipFill>
          <a:blip r:embed="rId2"/>
          <a:stretch>
            <a:fillRect/>
          </a:stretch>
        </p:blipFill>
        <p:spPr>
          <a:xfrm>
            <a:off x="6612941" y="1858061"/>
            <a:ext cx="307238" cy="307238"/>
          </a:xfrm>
          <a:prstGeom prst="rect">
            <a:avLst/>
          </a:prstGeom>
        </p:spPr>
      </p:pic>
      <p:sp>
        <p:nvSpPr>
          <p:cNvPr id="11" name="Text 7"/>
          <p:cNvSpPr/>
          <p:nvPr/>
        </p:nvSpPr>
        <p:spPr>
          <a:xfrm>
            <a:off x="7223760" y="1737360"/>
            <a:ext cx="3657600" cy="457200"/>
          </a:xfrm>
          <a:prstGeom prst="rect">
            <a:avLst/>
          </a:prstGeom>
          <a:noFill/>
          <a:ln/>
        </p:spPr>
        <p:txBody>
          <a:bodyPr wrap="square" rtlCol="0" anchor="ctr"/>
          <a:lstStyle/>
          <a:p>
            <a:pPr indent="0" marL="0">
              <a:buNone/>
            </a:pPr>
            <a:r>
              <a:rPr lang="en-US" sz="2000" b="1" dirty="0">
                <a:solidFill>
                  <a:srgbClr val="21295C"/>
                </a:solidFill>
                <a:latin typeface="Calibri" pitchFamily="34" charset="0"/>
                <a:ea typeface="Calibri" pitchFamily="34" charset="-122"/>
                <a:cs typeface="Calibri" pitchFamily="34" charset="-120"/>
              </a:rPr>
              <a:t>Wide</a:t>
            </a:r>
            <a:endParaRPr lang="en-US" sz="2000" dirty="0"/>
          </a:p>
        </p:txBody>
      </p:sp>
      <p:sp>
        <p:nvSpPr>
          <p:cNvPr id="12" name="Text 8"/>
          <p:cNvSpPr/>
          <p:nvPr/>
        </p:nvSpPr>
        <p:spPr>
          <a:xfrm>
            <a:off x="6446520" y="2514600"/>
            <a:ext cx="4663440" cy="2377440"/>
          </a:xfrm>
          <a:prstGeom prst="rect">
            <a:avLst/>
          </a:prstGeom>
          <a:noFill/>
          <a:ln/>
        </p:spPr>
        <p:txBody>
          <a:bodyPr wrap="square" rtlCol="0" anchor="ctr"/>
          <a:lstStyle/>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Each output partition can depend on many input partitions</a:t>
            </a:r>
            <a:endParaRPr lang="en-US" sz="1400" dirty="0"/>
          </a:p>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Requires a shuffle across the network</a:t>
            </a:r>
            <a:endParaRPr lang="en-US" sz="1400" dirty="0"/>
          </a:p>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Examples: groupBy(), join(), distinct(), repartition()</a:t>
            </a:r>
            <a:endParaRPr lang="en-US" sz="1400" dirty="0"/>
          </a:p>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Slower — workers must exchange data first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A3D"/>
        </a:solidFill>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762610" y="716890"/>
            <a:ext cx="395021" cy="395021"/>
          </a:xfrm>
          <a:prstGeom prst="rect">
            <a:avLst/>
          </a:prstGeom>
        </p:spPr>
      </p:pic>
      <p:sp>
        <p:nvSpPr>
          <p:cNvPr id="4" name="Text 1"/>
          <p:cNvSpPr/>
          <p:nvPr/>
        </p:nvSpPr>
        <p:spPr>
          <a:xfrm>
            <a:off x="1600200" y="548640"/>
            <a:ext cx="5486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Shuffling</a:t>
            </a:r>
            <a:endParaRPr lang="en-US" sz="3000" dirty="0"/>
          </a:p>
        </p:txBody>
      </p:sp>
      <p:sp>
        <p:nvSpPr>
          <p:cNvPr id="5" name="Text 2"/>
          <p:cNvSpPr/>
          <p:nvPr/>
        </p:nvSpPr>
        <p:spPr>
          <a:xfrm>
            <a:off x="548640" y="1554480"/>
            <a:ext cx="10515600" cy="457200"/>
          </a:xfrm>
          <a:prstGeom prst="rect">
            <a:avLst/>
          </a:prstGeom>
          <a:noFill/>
          <a:ln/>
        </p:spPr>
        <p:txBody>
          <a:bodyPr wrap="square" rtlCol="0" anchor="ctr"/>
          <a:lstStyle/>
          <a:p>
            <a:pPr indent="0" marL="0">
              <a:buNone/>
            </a:pPr>
            <a:r>
              <a:rPr lang="en-US" sz="1600" b="1" dirty="0">
                <a:solidFill>
                  <a:srgbClr val="9FC6D8"/>
                </a:solidFill>
                <a:latin typeface="Calibri" pitchFamily="34" charset="0"/>
                <a:ea typeface="Calibri" pitchFamily="34" charset="-122"/>
                <a:cs typeface="Calibri" pitchFamily="34" charset="-120"/>
              </a:rPr>
              <a:t>What actually happens during a shuffle</a:t>
            </a:r>
            <a:endParaRPr lang="en-US" sz="1600" dirty="0"/>
          </a:p>
        </p:txBody>
      </p:sp>
      <p:sp>
        <p:nvSpPr>
          <p:cNvPr id="6" name="Shape 3"/>
          <p:cNvSpPr/>
          <p:nvPr/>
        </p:nvSpPr>
        <p:spPr>
          <a:xfrm>
            <a:off x="548640" y="2148840"/>
            <a:ext cx="3429000" cy="2286000"/>
          </a:xfrm>
          <a:prstGeom prst="roundRect">
            <a:avLst>
              <a:gd name="adj" fmla="val 3200"/>
            </a:avLst>
          </a:prstGeom>
          <a:solidFill>
            <a:srgbClr val="0F3A50"/>
          </a:solidFill>
          <a:ln/>
        </p:spPr>
      </p:sp>
      <p:sp>
        <p:nvSpPr>
          <p:cNvPr id="7" name="Text 4"/>
          <p:cNvSpPr/>
          <p:nvPr/>
        </p:nvSpPr>
        <p:spPr>
          <a:xfrm>
            <a:off x="777240" y="2331720"/>
            <a:ext cx="914400" cy="548640"/>
          </a:xfrm>
          <a:prstGeom prst="rect">
            <a:avLst/>
          </a:prstGeom>
          <a:noFill/>
          <a:ln/>
        </p:spPr>
        <p:txBody>
          <a:bodyPr wrap="square"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1</a:t>
            </a:r>
            <a:endParaRPr lang="en-US" sz="2600" dirty="0"/>
          </a:p>
        </p:txBody>
      </p:sp>
      <p:sp>
        <p:nvSpPr>
          <p:cNvPr id="8" name="Text 5"/>
          <p:cNvSpPr/>
          <p:nvPr/>
        </p:nvSpPr>
        <p:spPr>
          <a:xfrm>
            <a:off x="777240" y="2880360"/>
            <a:ext cx="297180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Write</a:t>
            </a:r>
            <a:endParaRPr lang="en-US" sz="1600" dirty="0"/>
          </a:p>
        </p:txBody>
      </p:sp>
      <p:sp>
        <p:nvSpPr>
          <p:cNvPr id="9" name="Text 6"/>
          <p:cNvSpPr/>
          <p:nvPr/>
        </p:nvSpPr>
        <p:spPr>
          <a:xfrm>
            <a:off x="777240" y="3291840"/>
            <a:ext cx="2971800" cy="1005840"/>
          </a:xfrm>
          <a:prstGeom prst="rect">
            <a:avLst/>
          </a:prstGeom>
          <a:noFill/>
          <a:ln/>
        </p:spPr>
        <p:txBody>
          <a:bodyPr wrap="square" rtlCol="0" anchor="ctr"/>
          <a:lstStyle/>
          <a:p>
            <a:pPr indent="0" marL="0">
              <a:lnSpc>
                <a:spcPts val="1600"/>
              </a:lnSpc>
              <a:buNone/>
            </a:pPr>
            <a:r>
              <a:rPr lang="en-US" sz="1250" dirty="0">
                <a:solidFill>
                  <a:srgbClr val="CADCE3"/>
                </a:solidFill>
                <a:latin typeface="Calibri" pitchFamily="34" charset="0"/>
                <a:ea typeface="Calibri" pitchFamily="34" charset="-122"/>
                <a:cs typeface="Calibri" pitchFamily="34" charset="-120"/>
              </a:rPr>
              <a:t>Each partition writes its records to disk, grouped by a key</a:t>
            </a:r>
            <a:endParaRPr lang="en-US" sz="1250" dirty="0"/>
          </a:p>
        </p:txBody>
      </p:sp>
      <p:sp>
        <p:nvSpPr>
          <p:cNvPr id="10" name="Shape 7"/>
          <p:cNvSpPr/>
          <p:nvPr/>
        </p:nvSpPr>
        <p:spPr>
          <a:xfrm>
            <a:off x="4297680" y="2148840"/>
            <a:ext cx="3429000" cy="2286000"/>
          </a:xfrm>
          <a:prstGeom prst="roundRect">
            <a:avLst>
              <a:gd name="adj" fmla="val 3200"/>
            </a:avLst>
          </a:prstGeom>
          <a:solidFill>
            <a:srgbClr val="0F3A50"/>
          </a:solidFill>
          <a:ln/>
        </p:spPr>
      </p:sp>
      <p:sp>
        <p:nvSpPr>
          <p:cNvPr id="11" name="Text 8"/>
          <p:cNvSpPr/>
          <p:nvPr/>
        </p:nvSpPr>
        <p:spPr>
          <a:xfrm>
            <a:off x="4526280" y="2331720"/>
            <a:ext cx="914400" cy="548640"/>
          </a:xfrm>
          <a:prstGeom prst="rect">
            <a:avLst/>
          </a:prstGeom>
          <a:noFill/>
          <a:ln/>
        </p:spPr>
        <p:txBody>
          <a:bodyPr wrap="square"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2</a:t>
            </a:r>
            <a:endParaRPr lang="en-US" sz="2600" dirty="0"/>
          </a:p>
        </p:txBody>
      </p:sp>
      <p:sp>
        <p:nvSpPr>
          <p:cNvPr id="12" name="Text 9"/>
          <p:cNvSpPr/>
          <p:nvPr/>
        </p:nvSpPr>
        <p:spPr>
          <a:xfrm>
            <a:off x="4526280" y="2880360"/>
            <a:ext cx="297180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Transfer</a:t>
            </a:r>
            <a:endParaRPr lang="en-US" sz="1600" dirty="0"/>
          </a:p>
        </p:txBody>
      </p:sp>
      <p:sp>
        <p:nvSpPr>
          <p:cNvPr id="13" name="Text 10"/>
          <p:cNvSpPr/>
          <p:nvPr/>
        </p:nvSpPr>
        <p:spPr>
          <a:xfrm>
            <a:off x="4526280" y="3291840"/>
            <a:ext cx="2971800" cy="1005840"/>
          </a:xfrm>
          <a:prstGeom prst="rect">
            <a:avLst/>
          </a:prstGeom>
          <a:noFill/>
          <a:ln/>
        </p:spPr>
        <p:txBody>
          <a:bodyPr wrap="square" rtlCol="0" anchor="ctr"/>
          <a:lstStyle/>
          <a:p>
            <a:pPr indent="0" marL="0">
              <a:lnSpc>
                <a:spcPts val="1600"/>
              </a:lnSpc>
              <a:buNone/>
            </a:pPr>
            <a:r>
              <a:rPr lang="en-US" sz="1250" dirty="0">
                <a:solidFill>
                  <a:srgbClr val="CADCE3"/>
                </a:solidFill>
                <a:latin typeface="Calibri" pitchFamily="34" charset="0"/>
                <a:ea typeface="Calibri" pitchFamily="34" charset="-122"/>
                <a:cs typeface="Calibri" pitchFamily="34" charset="-120"/>
              </a:rPr>
              <a:t>Data is sent across the network to the node that needs it</a:t>
            </a:r>
            <a:endParaRPr lang="en-US" sz="1250" dirty="0"/>
          </a:p>
        </p:txBody>
      </p:sp>
      <p:sp>
        <p:nvSpPr>
          <p:cNvPr id="14" name="Shape 11"/>
          <p:cNvSpPr/>
          <p:nvPr/>
        </p:nvSpPr>
        <p:spPr>
          <a:xfrm>
            <a:off x="8046720" y="2148840"/>
            <a:ext cx="3429000" cy="2286000"/>
          </a:xfrm>
          <a:prstGeom prst="roundRect">
            <a:avLst>
              <a:gd name="adj" fmla="val 3200"/>
            </a:avLst>
          </a:prstGeom>
          <a:solidFill>
            <a:srgbClr val="0F3A50"/>
          </a:solidFill>
          <a:ln/>
        </p:spPr>
      </p:sp>
      <p:sp>
        <p:nvSpPr>
          <p:cNvPr id="15" name="Text 12"/>
          <p:cNvSpPr/>
          <p:nvPr/>
        </p:nvSpPr>
        <p:spPr>
          <a:xfrm>
            <a:off x="8275320" y="2331720"/>
            <a:ext cx="914400" cy="548640"/>
          </a:xfrm>
          <a:prstGeom prst="rect">
            <a:avLst/>
          </a:prstGeom>
          <a:noFill/>
          <a:ln/>
        </p:spPr>
        <p:txBody>
          <a:bodyPr wrap="square"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3</a:t>
            </a:r>
            <a:endParaRPr lang="en-US" sz="2600" dirty="0"/>
          </a:p>
        </p:txBody>
      </p:sp>
      <p:sp>
        <p:nvSpPr>
          <p:cNvPr id="16" name="Text 13"/>
          <p:cNvSpPr/>
          <p:nvPr/>
        </p:nvSpPr>
        <p:spPr>
          <a:xfrm>
            <a:off x="8275320" y="2880360"/>
            <a:ext cx="297180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Read</a:t>
            </a:r>
            <a:endParaRPr lang="en-US" sz="1600" dirty="0"/>
          </a:p>
        </p:txBody>
      </p:sp>
      <p:sp>
        <p:nvSpPr>
          <p:cNvPr id="17" name="Text 14"/>
          <p:cNvSpPr/>
          <p:nvPr/>
        </p:nvSpPr>
        <p:spPr>
          <a:xfrm>
            <a:off x="8275320" y="3291840"/>
            <a:ext cx="2971800" cy="1005840"/>
          </a:xfrm>
          <a:prstGeom prst="rect">
            <a:avLst/>
          </a:prstGeom>
          <a:noFill/>
          <a:ln/>
        </p:spPr>
        <p:txBody>
          <a:bodyPr wrap="square" rtlCol="0" anchor="ctr"/>
          <a:lstStyle/>
          <a:p>
            <a:pPr indent="0" marL="0">
              <a:lnSpc>
                <a:spcPts val="1600"/>
              </a:lnSpc>
              <a:buNone/>
            </a:pPr>
            <a:r>
              <a:rPr lang="en-US" sz="1250" dirty="0">
                <a:solidFill>
                  <a:srgbClr val="CADCE3"/>
                </a:solidFill>
                <a:latin typeface="Calibri" pitchFamily="34" charset="0"/>
                <a:ea typeface="Calibri" pitchFamily="34" charset="-122"/>
                <a:cs typeface="Calibri" pitchFamily="34" charset="-120"/>
              </a:rPr>
              <a:t>The receiving node reads and reassembles the data into new partitions</a:t>
            </a:r>
            <a:endParaRPr lang="en-US" sz="1250" dirty="0"/>
          </a:p>
        </p:txBody>
      </p:sp>
      <p:sp>
        <p:nvSpPr>
          <p:cNvPr id="18" name="Text 15"/>
          <p:cNvSpPr/>
          <p:nvPr/>
        </p:nvSpPr>
        <p:spPr>
          <a:xfrm>
            <a:off x="548640" y="4617720"/>
            <a:ext cx="10515600" cy="457200"/>
          </a:xfrm>
          <a:prstGeom prst="rect">
            <a:avLst/>
          </a:prstGeom>
          <a:noFill/>
          <a:ln/>
        </p:spPr>
        <p:txBody>
          <a:bodyPr wrap="square" rtlCol="0" anchor="ctr"/>
          <a:lstStyle/>
          <a:p>
            <a:pPr indent="0" marL="0">
              <a:buNone/>
            </a:pPr>
            <a:r>
              <a:rPr lang="en-US" sz="1300" i="1" dirty="0">
                <a:solidFill>
                  <a:srgbClr val="8FB3C2"/>
                </a:solidFill>
                <a:latin typeface="Calibri" pitchFamily="34" charset="0"/>
                <a:ea typeface="Calibri" pitchFamily="34" charset="-122"/>
                <a:cs typeface="Calibri" pitchFamily="34" charset="-120"/>
              </a:rPr>
              <a:t>Costly because: disk I/O + network transfer + serialization — all at once, across every worker.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822960" cy="822960"/>
          </a:xfrm>
          <a:prstGeom prst="ellipse">
            <a:avLst/>
          </a:prstGeom>
          <a:solidFill>
            <a:srgbClr val="E4EEF3"/>
          </a:solidFill>
          <a:ln/>
        </p:spPr>
      </p:sp>
      <p:pic>
        <p:nvPicPr>
          <p:cNvPr id="3" name="Image 0" descr="preencoded.png">    </p:cNvPr>
          <p:cNvPicPr>
            <a:picLocks noChangeAspect="1"/>
          </p:cNvPicPr>
          <p:nvPr/>
        </p:nvPicPr>
        <p:blipFill>
          <a:blip r:embed="rId1"/>
          <a:stretch>
            <a:fillRect/>
          </a:stretch>
        </p:blipFill>
        <p:spPr>
          <a:xfrm>
            <a:off x="762610" y="671170"/>
            <a:ext cx="395021" cy="395021"/>
          </a:xfrm>
          <a:prstGeom prst="rect">
            <a:avLst/>
          </a:prstGeom>
        </p:spPr>
      </p:pic>
      <p:sp>
        <p:nvSpPr>
          <p:cNvPr id="4" name="Text 1"/>
          <p:cNvSpPr/>
          <p:nvPr/>
        </p:nvSpPr>
        <p:spPr>
          <a:xfrm>
            <a:off x="1600200" y="502920"/>
            <a:ext cx="5486400" cy="731520"/>
          </a:xfrm>
          <a:prstGeom prst="rect">
            <a:avLst/>
          </a:prstGeom>
          <a:noFill/>
          <a:ln/>
        </p:spPr>
        <p:txBody>
          <a:bodyPr wrap="square" rtlCol="0" anchor="ctr"/>
          <a:lstStyle/>
          <a:p>
            <a:pPr indent="0" marL="0">
              <a:buNone/>
            </a:pPr>
            <a:r>
              <a:rPr lang="en-US" sz="2800" b="1" dirty="0">
                <a:solidFill>
                  <a:srgbClr val="1B2A33"/>
                </a:solidFill>
                <a:latin typeface="Cambria" pitchFamily="34" charset="0"/>
                <a:ea typeface="Cambria" pitchFamily="34" charset="-122"/>
                <a:cs typeface="Cambria" pitchFamily="34" charset="-120"/>
              </a:rPr>
              <a:t>repartition()</a:t>
            </a:r>
            <a:endParaRPr lang="en-US" sz="2800" dirty="0"/>
          </a:p>
        </p:txBody>
      </p:sp>
      <p:sp>
        <p:nvSpPr>
          <p:cNvPr id="5" name="Shape 2"/>
          <p:cNvSpPr/>
          <p:nvPr/>
        </p:nvSpPr>
        <p:spPr>
          <a:xfrm>
            <a:off x="548640" y="1554480"/>
            <a:ext cx="10881360" cy="685800"/>
          </a:xfrm>
          <a:prstGeom prst="roundRect">
            <a:avLst>
              <a:gd name="adj" fmla="val 8000"/>
            </a:avLst>
          </a:prstGeom>
          <a:solidFill>
            <a:srgbClr val="10233A"/>
          </a:solidFill>
          <a:ln/>
        </p:spPr>
      </p:sp>
      <p:sp>
        <p:nvSpPr>
          <p:cNvPr id="6" name="Text 3"/>
          <p:cNvSpPr/>
          <p:nvPr/>
        </p:nvSpPr>
        <p:spPr>
          <a:xfrm>
            <a:off x="822960" y="1554480"/>
            <a:ext cx="10058400" cy="685800"/>
          </a:xfrm>
          <a:prstGeom prst="rect">
            <a:avLst/>
          </a:prstGeom>
          <a:noFill/>
          <a:ln/>
        </p:spPr>
        <p:txBody>
          <a:bodyPr wrap="square" rtlCol="0" anchor="ctr"/>
          <a:lstStyle/>
          <a:p>
            <a:pPr indent="0" marL="0">
              <a:buNone/>
            </a:pPr>
            <a:r>
              <a:rPr lang="en-US" sz="1600" dirty="0">
                <a:solidFill>
                  <a:srgbClr val="8FF0C0"/>
                </a:solidFill>
                <a:latin typeface="Courier New" pitchFamily="34" charset="0"/>
                <a:ea typeface="Courier New" pitchFamily="34" charset="-122"/>
                <a:cs typeface="Courier New" pitchFamily="34" charset="-120"/>
              </a:rPr>
              <a:t>df.repartition(8)</a:t>
            </a:r>
            <a:endParaRPr lang="en-US" sz="1600" dirty="0"/>
          </a:p>
        </p:txBody>
      </p:sp>
      <p:sp>
        <p:nvSpPr>
          <p:cNvPr id="7" name="Text 4"/>
          <p:cNvSpPr/>
          <p:nvPr/>
        </p:nvSpPr>
        <p:spPr>
          <a:xfrm>
            <a:off x="548640" y="2514600"/>
            <a:ext cx="10515600" cy="2194560"/>
          </a:xfrm>
          <a:prstGeom prst="rect">
            <a:avLst/>
          </a:prstGeom>
          <a:noFill/>
          <a:ln/>
        </p:spPr>
        <p:txBody>
          <a:bodyPr wrap="square" rtlCol="0" anchor="ctr"/>
          <a:lstStyle/>
          <a:p>
            <a:pPr marL="342900" indent="-342900">
              <a:lnSpc>
                <a:spcPts val="2400"/>
              </a:lnSpc>
              <a:buSzPct val="100000"/>
              <a:buChar char="•"/>
            </a:pPr>
            <a:r>
              <a:rPr lang="en-US" sz="1500" dirty="0">
                <a:solidFill>
                  <a:srgbClr val="1B2A33"/>
                </a:solidFill>
                <a:latin typeface="Calibri" pitchFamily="34" charset="0"/>
                <a:ea typeface="Calibri" pitchFamily="34" charset="-122"/>
                <a:cs typeface="Calibri" pitchFamily="34" charset="-120"/>
              </a:rPr>
              <a:t>Can increase OR decrease the number of partitions</a:t>
            </a:r>
            <a:endParaRPr lang="en-US" sz="1500" dirty="0"/>
          </a:p>
          <a:p>
            <a:pPr marL="342900" indent="-342900">
              <a:lnSpc>
                <a:spcPts val="2400"/>
              </a:lnSpc>
              <a:buSzPct val="100000"/>
              <a:buChar char="•"/>
            </a:pPr>
            <a:r>
              <a:rPr lang="en-US" sz="1500" dirty="0">
                <a:solidFill>
                  <a:srgbClr val="1B2A33"/>
                </a:solidFill>
                <a:latin typeface="Calibri" pitchFamily="34" charset="0"/>
                <a:ea typeface="Calibri" pitchFamily="34" charset="-122"/>
                <a:cs typeface="Calibri" pitchFamily="34" charset="-120"/>
              </a:rPr>
              <a:t>Always triggers a full shuffle, even to add partitions</a:t>
            </a:r>
            <a:endParaRPr lang="en-US" sz="1500" dirty="0"/>
          </a:p>
          <a:p>
            <a:pPr marL="342900" indent="-342900">
              <a:lnSpc>
                <a:spcPts val="2400"/>
              </a:lnSpc>
              <a:buSzPct val="100000"/>
              <a:buChar char="•"/>
            </a:pPr>
            <a:r>
              <a:rPr lang="en-US" sz="1500" dirty="0">
                <a:solidFill>
                  <a:srgbClr val="1B2A33"/>
                </a:solidFill>
                <a:latin typeface="Calibri" pitchFamily="34" charset="0"/>
                <a:ea typeface="Calibri" pitchFamily="34" charset="-122"/>
                <a:cs typeface="Calibri" pitchFamily="34" charset="-120"/>
              </a:rPr>
              <a:t>Produces evenly-sized partitions</a:t>
            </a:r>
            <a:endParaRPr lang="en-US" sz="1500" dirty="0"/>
          </a:p>
          <a:p>
            <a:pPr marL="342900" indent="-342900">
              <a:lnSpc>
                <a:spcPts val="2400"/>
              </a:lnSpc>
              <a:buSzPct val="100000"/>
              <a:buChar char="•"/>
            </a:pPr>
            <a:r>
              <a:rPr lang="en-US" sz="1500" dirty="0">
                <a:solidFill>
                  <a:srgbClr val="1B2A33"/>
                </a:solidFill>
                <a:latin typeface="Calibri" pitchFamily="34" charset="0"/>
                <a:ea typeface="Calibri" pitchFamily="34" charset="-122"/>
                <a:cs typeface="Calibri" pitchFamily="34" charset="-120"/>
              </a:rPr>
              <a:t>Use when: data is skewed, or you need more parallelism before a heavy step</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822960" cy="822960"/>
          </a:xfrm>
          <a:prstGeom prst="ellipse">
            <a:avLst/>
          </a:prstGeom>
          <a:solidFill>
            <a:srgbClr val="E4EEF3"/>
          </a:solidFill>
          <a:ln/>
        </p:spPr>
      </p:sp>
      <p:pic>
        <p:nvPicPr>
          <p:cNvPr id="3" name="Image 0" descr="preencoded.png">    </p:cNvPr>
          <p:cNvPicPr>
            <a:picLocks noChangeAspect="1"/>
          </p:cNvPicPr>
          <p:nvPr/>
        </p:nvPicPr>
        <p:blipFill>
          <a:blip r:embed="rId1"/>
          <a:stretch>
            <a:fillRect/>
          </a:stretch>
        </p:blipFill>
        <p:spPr>
          <a:xfrm>
            <a:off x="762610" y="671170"/>
            <a:ext cx="395021" cy="395021"/>
          </a:xfrm>
          <a:prstGeom prst="rect">
            <a:avLst/>
          </a:prstGeom>
        </p:spPr>
      </p:pic>
      <p:sp>
        <p:nvSpPr>
          <p:cNvPr id="4" name="Text 1"/>
          <p:cNvSpPr/>
          <p:nvPr/>
        </p:nvSpPr>
        <p:spPr>
          <a:xfrm>
            <a:off x="1600200" y="502920"/>
            <a:ext cx="5486400" cy="731520"/>
          </a:xfrm>
          <a:prstGeom prst="rect">
            <a:avLst/>
          </a:prstGeom>
          <a:noFill/>
          <a:ln/>
        </p:spPr>
        <p:txBody>
          <a:bodyPr wrap="square" rtlCol="0" anchor="ctr"/>
          <a:lstStyle/>
          <a:p>
            <a:pPr indent="0" marL="0">
              <a:buNone/>
            </a:pPr>
            <a:r>
              <a:rPr lang="en-US" sz="2800" b="1" dirty="0">
                <a:solidFill>
                  <a:srgbClr val="1B2A33"/>
                </a:solidFill>
                <a:latin typeface="Cambria" pitchFamily="34" charset="0"/>
                <a:ea typeface="Cambria" pitchFamily="34" charset="-122"/>
                <a:cs typeface="Cambria" pitchFamily="34" charset="-120"/>
              </a:rPr>
              <a:t>coalesce()</a:t>
            </a:r>
            <a:endParaRPr lang="en-US" sz="2800" dirty="0"/>
          </a:p>
        </p:txBody>
      </p:sp>
      <p:sp>
        <p:nvSpPr>
          <p:cNvPr id="5" name="Shape 2"/>
          <p:cNvSpPr/>
          <p:nvPr/>
        </p:nvSpPr>
        <p:spPr>
          <a:xfrm>
            <a:off x="548640" y="1554480"/>
            <a:ext cx="10881360" cy="685800"/>
          </a:xfrm>
          <a:prstGeom prst="roundRect">
            <a:avLst>
              <a:gd name="adj" fmla="val 8000"/>
            </a:avLst>
          </a:prstGeom>
          <a:solidFill>
            <a:srgbClr val="10233A"/>
          </a:solidFill>
          <a:ln/>
        </p:spPr>
      </p:sp>
      <p:sp>
        <p:nvSpPr>
          <p:cNvPr id="6" name="Text 3"/>
          <p:cNvSpPr/>
          <p:nvPr/>
        </p:nvSpPr>
        <p:spPr>
          <a:xfrm>
            <a:off x="822960" y="1554480"/>
            <a:ext cx="10058400" cy="685800"/>
          </a:xfrm>
          <a:prstGeom prst="rect">
            <a:avLst/>
          </a:prstGeom>
          <a:noFill/>
          <a:ln/>
        </p:spPr>
        <p:txBody>
          <a:bodyPr wrap="square" rtlCol="0" anchor="ctr"/>
          <a:lstStyle/>
          <a:p>
            <a:pPr indent="0" marL="0">
              <a:buNone/>
            </a:pPr>
            <a:r>
              <a:rPr lang="en-US" sz="1600" dirty="0">
                <a:solidFill>
                  <a:srgbClr val="8FF0C0"/>
                </a:solidFill>
                <a:latin typeface="Courier New" pitchFamily="34" charset="0"/>
                <a:ea typeface="Courier New" pitchFamily="34" charset="-122"/>
                <a:cs typeface="Courier New" pitchFamily="34" charset="-120"/>
              </a:rPr>
              <a:t>df.coalesce(2)</a:t>
            </a:r>
            <a:endParaRPr lang="en-US" sz="1600" dirty="0"/>
          </a:p>
        </p:txBody>
      </p:sp>
      <p:sp>
        <p:nvSpPr>
          <p:cNvPr id="7" name="Text 4"/>
          <p:cNvSpPr/>
          <p:nvPr/>
        </p:nvSpPr>
        <p:spPr>
          <a:xfrm>
            <a:off x="548640" y="2514600"/>
            <a:ext cx="10515600" cy="2194560"/>
          </a:xfrm>
          <a:prstGeom prst="rect">
            <a:avLst/>
          </a:prstGeom>
          <a:noFill/>
          <a:ln/>
        </p:spPr>
        <p:txBody>
          <a:bodyPr wrap="square" rtlCol="0" anchor="ctr"/>
          <a:lstStyle/>
          <a:p>
            <a:pPr marL="342900" indent="-342900">
              <a:lnSpc>
                <a:spcPts val="2400"/>
              </a:lnSpc>
              <a:buSzPct val="100000"/>
              <a:buChar char="•"/>
            </a:pPr>
            <a:r>
              <a:rPr lang="en-US" sz="1500" dirty="0">
                <a:solidFill>
                  <a:srgbClr val="1B2A33"/>
                </a:solidFill>
                <a:latin typeface="Calibri" pitchFamily="34" charset="0"/>
                <a:ea typeface="Calibri" pitchFamily="34" charset="-122"/>
                <a:cs typeface="Calibri" pitchFamily="34" charset="-120"/>
              </a:rPr>
              <a:t>Only decreases the number of partitions</a:t>
            </a:r>
            <a:endParaRPr lang="en-US" sz="1500" dirty="0"/>
          </a:p>
          <a:p>
            <a:pPr marL="342900" indent="-342900">
              <a:lnSpc>
                <a:spcPts val="2400"/>
              </a:lnSpc>
              <a:buSzPct val="100000"/>
              <a:buChar char="•"/>
            </a:pPr>
            <a:r>
              <a:rPr lang="en-US" sz="1500" dirty="0">
                <a:solidFill>
                  <a:srgbClr val="1B2A33"/>
                </a:solidFill>
                <a:latin typeface="Calibri" pitchFamily="34" charset="0"/>
                <a:ea typeface="Calibri" pitchFamily="34" charset="-122"/>
                <a:cs typeface="Calibri" pitchFamily="34" charset="-120"/>
              </a:rPr>
              <a:t>Avoids a full shuffle by merging nearby partitions in place</a:t>
            </a:r>
            <a:endParaRPr lang="en-US" sz="1500" dirty="0"/>
          </a:p>
          <a:p>
            <a:pPr marL="342900" indent="-342900">
              <a:lnSpc>
                <a:spcPts val="2400"/>
              </a:lnSpc>
              <a:buSzPct val="100000"/>
              <a:buChar char="•"/>
            </a:pPr>
            <a:r>
              <a:rPr lang="en-US" sz="1500" dirty="0">
                <a:solidFill>
                  <a:srgbClr val="1B2A33"/>
                </a:solidFill>
                <a:latin typeface="Calibri" pitchFamily="34" charset="0"/>
                <a:ea typeface="Calibri" pitchFamily="34" charset="-122"/>
                <a:cs typeface="Calibri" pitchFamily="34" charset="-120"/>
              </a:rPr>
              <a:t>Partition sizes can end up uneven</a:t>
            </a:r>
            <a:endParaRPr lang="en-US" sz="1500" dirty="0"/>
          </a:p>
          <a:p>
            <a:pPr marL="342900" indent="-342900">
              <a:lnSpc>
                <a:spcPts val="2400"/>
              </a:lnSpc>
              <a:buSzPct val="100000"/>
              <a:buChar char="•"/>
            </a:pPr>
            <a:r>
              <a:rPr lang="en-US" sz="1500" dirty="0">
                <a:solidFill>
                  <a:srgbClr val="1B2A33"/>
                </a:solidFill>
                <a:latin typeface="Calibri" pitchFamily="34" charset="0"/>
                <a:ea typeface="Calibri" pitchFamily="34" charset="-122"/>
                <a:cs typeface="Calibri" pitchFamily="34" charset="-120"/>
              </a:rPr>
              <a:t>Use when: reducing output files, e.g. right before writing to disk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A3D"/>
        </a:solidFill>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762610" y="716890"/>
            <a:ext cx="395021" cy="395021"/>
          </a:xfrm>
          <a:prstGeom prst="rect">
            <a:avLst/>
          </a:prstGeom>
        </p:spPr>
      </p:pic>
      <p:sp>
        <p:nvSpPr>
          <p:cNvPr id="4" name="Text 1"/>
          <p:cNvSpPr/>
          <p:nvPr/>
        </p:nvSpPr>
        <p:spPr>
          <a:xfrm>
            <a:off x="1600200" y="548640"/>
            <a:ext cx="8229600" cy="7315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repartition() vs. coalesce()</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0881360" cy="3108960"/>
        </p:xfrm>
        <a:graphic>
          <a:graphicData uri="http://schemas.openxmlformats.org/drawingml/2006/table">
            <a:tbl>
              <a:tblPr/>
              <a:tblGrid>
                <a:gridCol w="2834640"/>
                <a:gridCol w="4023360"/>
                <a:gridCol w="4023360"/>
              </a:tblGrid>
              <a:tr h="621792">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0F3A5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repartition()</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0F3A5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coalesce()</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0F3A50"/>
                    </a:solidFill>
                  </a:tcPr>
                </a:tc>
              </a:tr>
              <a:tr h="621792">
                <a:tc>
                  <a:txBody>
                    <a:bodyPr/>
                    <a:lstStyle/>
                    <a:p>
                      <a:pPr indent="0" marL="0">
                        <a:buNone/>
                      </a:pPr>
                      <a:r>
                        <a:rPr lang="en-US" sz="1400" dirty="0">
                          <a:solidFill>
                            <a:srgbClr val="E7EEF1"/>
                          </a:solidFill>
                          <a:latin typeface="Calibri" pitchFamily="34" charset="0"/>
                          <a:ea typeface="Calibri" pitchFamily="34" charset="-122"/>
                          <a:cs typeface="Calibri" pitchFamily="34" charset="-120"/>
                        </a:rPr>
                        <a:t>Direction</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10233A"/>
                    </a:solidFill>
                  </a:tcPr>
                </a:tc>
                <a:tc>
                  <a:txBody>
                    <a:bodyPr/>
                    <a:lstStyle/>
                    <a:p>
                      <a:pPr indent="0" marL="0">
                        <a:buNone/>
                      </a:pPr>
                      <a:r>
                        <a:rPr lang="en-US" sz="1400" dirty="0">
                          <a:solidFill>
                            <a:srgbClr val="E7EEF1"/>
                          </a:solidFill>
                          <a:latin typeface="Calibri" pitchFamily="34" charset="0"/>
                          <a:ea typeface="Calibri" pitchFamily="34" charset="-122"/>
                          <a:cs typeface="Calibri" pitchFamily="34" charset="-120"/>
                        </a:rPr>
                        <a:t>Increase or decrease</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10233A"/>
                    </a:solidFill>
                  </a:tcPr>
                </a:tc>
                <a:tc>
                  <a:txBody>
                    <a:bodyPr/>
                    <a:lstStyle/>
                    <a:p>
                      <a:pPr indent="0" marL="0">
                        <a:buNone/>
                      </a:pPr>
                      <a:r>
                        <a:rPr lang="en-US" sz="1400" dirty="0">
                          <a:solidFill>
                            <a:srgbClr val="E7EEF1"/>
                          </a:solidFill>
                          <a:latin typeface="Calibri" pitchFamily="34" charset="0"/>
                          <a:ea typeface="Calibri" pitchFamily="34" charset="-122"/>
                          <a:cs typeface="Calibri" pitchFamily="34" charset="-120"/>
                        </a:rPr>
                        <a:t>Decrease only</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10233A"/>
                    </a:solidFill>
                  </a:tcPr>
                </a:tc>
              </a:tr>
              <a:tr h="621792">
                <a:tc>
                  <a:txBody>
                    <a:bodyPr/>
                    <a:lstStyle/>
                    <a:p>
                      <a:pPr indent="0" marL="0">
                        <a:buNone/>
                      </a:pPr>
                      <a:r>
                        <a:rPr lang="en-US" sz="1400" dirty="0">
                          <a:solidFill>
                            <a:srgbClr val="E7EEF1"/>
                          </a:solidFill>
                          <a:latin typeface="Calibri" pitchFamily="34" charset="0"/>
                          <a:ea typeface="Calibri" pitchFamily="34" charset="-122"/>
                          <a:cs typeface="Calibri" pitchFamily="34" charset="-120"/>
                        </a:rPr>
                        <a:t>Shuffle</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10233A"/>
                    </a:solidFill>
                  </a:tcPr>
                </a:tc>
                <a:tc>
                  <a:txBody>
                    <a:bodyPr/>
                    <a:lstStyle/>
                    <a:p>
                      <a:pPr indent="0" marL="0">
                        <a:buNone/>
                      </a:pPr>
                      <a:r>
                        <a:rPr lang="en-US" sz="1400" dirty="0">
                          <a:solidFill>
                            <a:srgbClr val="E7EEF1"/>
                          </a:solidFill>
                          <a:latin typeface="Calibri" pitchFamily="34" charset="0"/>
                          <a:ea typeface="Calibri" pitchFamily="34" charset="-122"/>
                          <a:cs typeface="Calibri" pitchFamily="34" charset="-120"/>
                        </a:rPr>
                        <a:t>Always full shuffle</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10233A"/>
                    </a:solidFill>
                  </a:tcPr>
                </a:tc>
                <a:tc>
                  <a:txBody>
                    <a:bodyPr/>
                    <a:lstStyle/>
                    <a:p>
                      <a:pPr indent="0" marL="0">
                        <a:buNone/>
                      </a:pPr>
                      <a:r>
                        <a:rPr lang="en-US" sz="1400" dirty="0">
                          <a:solidFill>
                            <a:srgbClr val="E7EEF1"/>
                          </a:solidFill>
                          <a:latin typeface="Calibri" pitchFamily="34" charset="0"/>
                          <a:ea typeface="Calibri" pitchFamily="34" charset="-122"/>
                          <a:cs typeface="Calibri" pitchFamily="34" charset="-120"/>
                        </a:rPr>
                        <a:t>Avoids full shuffle</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10233A"/>
                    </a:solidFill>
                  </a:tcPr>
                </a:tc>
              </a:tr>
              <a:tr h="621792">
                <a:tc>
                  <a:txBody>
                    <a:bodyPr/>
                    <a:lstStyle/>
                    <a:p>
                      <a:pPr indent="0" marL="0">
                        <a:buNone/>
                      </a:pPr>
                      <a:r>
                        <a:rPr lang="en-US" sz="1400" dirty="0">
                          <a:solidFill>
                            <a:srgbClr val="E7EEF1"/>
                          </a:solidFill>
                          <a:latin typeface="Calibri" pitchFamily="34" charset="0"/>
                          <a:ea typeface="Calibri" pitchFamily="34" charset="-122"/>
                          <a:cs typeface="Calibri" pitchFamily="34" charset="-120"/>
                        </a:rPr>
                        <a:t>Partition sizes</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10233A"/>
                    </a:solidFill>
                  </a:tcPr>
                </a:tc>
                <a:tc>
                  <a:txBody>
                    <a:bodyPr/>
                    <a:lstStyle/>
                    <a:p>
                      <a:pPr indent="0" marL="0">
                        <a:buNone/>
                      </a:pPr>
                      <a:r>
                        <a:rPr lang="en-US" sz="1400" dirty="0">
                          <a:solidFill>
                            <a:srgbClr val="E7EEF1"/>
                          </a:solidFill>
                          <a:latin typeface="Calibri" pitchFamily="34" charset="0"/>
                          <a:ea typeface="Calibri" pitchFamily="34" charset="-122"/>
                          <a:cs typeface="Calibri" pitchFamily="34" charset="-120"/>
                        </a:rPr>
                        <a:t>Even</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10233A"/>
                    </a:solidFill>
                  </a:tcPr>
                </a:tc>
                <a:tc>
                  <a:txBody>
                    <a:bodyPr/>
                    <a:lstStyle/>
                    <a:p>
                      <a:pPr indent="0" marL="0">
                        <a:buNone/>
                      </a:pPr>
                      <a:r>
                        <a:rPr lang="en-US" sz="1400" dirty="0">
                          <a:solidFill>
                            <a:srgbClr val="E7EEF1"/>
                          </a:solidFill>
                          <a:latin typeface="Calibri" pitchFamily="34" charset="0"/>
                          <a:ea typeface="Calibri" pitchFamily="34" charset="-122"/>
                          <a:cs typeface="Calibri" pitchFamily="34" charset="-120"/>
                        </a:rPr>
                        <a:t>Can be uneven</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10233A"/>
                    </a:solidFill>
                  </a:tcPr>
                </a:tc>
              </a:tr>
              <a:tr h="621792">
                <a:tc>
                  <a:txBody>
                    <a:bodyPr/>
                    <a:lstStyle/>
                    <a:p>
                      <a:pPr indent="0" marL="0">
                        <a:buNone/>
                      </a:pPr>
                      <a:r>
                        <a:rPr lang="en-US" sz="1400" dirty="0">
                          <a:solidFill>
                            <a:srgbClr val="E7EEF1"/>
                          </a:solidFill>
                          <a:latin typeface="Calibri" pitchFamily="34" charset="0"/>
                          <a:ea typeface="Calibri" pitchFamily="34" charset="-122"/>
                          <a:cs typeface="Calibri" pitchFamily="34" charset="-120"/>
                        </a:rPr>
                        <a:t>Typical use</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10233A"/>
                    </a:solidFill>
                  </a:tcPr>
                </a:tc>
                <a:tc>
                  <a:txBody>
                    <a:bodyPr/>
                    <a:lstStyle/>
                    <a:p>
                      <a:pPr indent="0" marL="0">
                        <a:buNone/>
                      </a:pPr>
                      <a:r>
                        <a:rPr lang="en-US" sz="1400" dirty="0">
                          <a:solidFill>
                            <a:srgbClr val="E7EEF1"/>
                          </a:solidFill>
                          <a:latin typeface="Calibri" pitchFamily="34" charset="0"/>
                          <a:ea typeface="Calibri" pitchFamily="34" charset="-122"/>
                          <a:cs typeface="Calibri" pitchFamily="34" charset="-120"/>
                        </a:rPr>
                        <a:t>Fix skew / add parallelism</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10233A"/>
                    </a:solidFill>
                  </a:tcPr>
                </a:tc>
                <a:tc>
                  <a:txBody>
                    <a:bodyPr/>
                    <a:lstStyle/>
                    <a:p>
                      <a:pPr indent="0" marL="0">
                        <a:buNone/>
                      </a:pPr>
                      <a:r>
                        <a:rPr lang="en-US" sz="1400" dirty="0">
                          <a:solidFill>
                            <a:srgbClr val="E7EEF1"/>
                          </a:solidFill>
                          <a:latin typeface="Calibri" pitchFamily="34" charset="0"/>
                          <a:ea typeface="Calibri" pitchFamily="34" charset="-122"/>
                          <a:cs typeface="Calibri" pitchFamily="34" charset="-120"/>
                        </a:rPr>
                        <a:t>Fewer output files before a write</a:t>
                      </a:r>
                      <a:endParaRPr lang="en-US" sz="1400" dirty="0">
                        <a:latin typeface="Calibri" charset="0"/>
                        <a:ea typeface="Calibri" charset="0"/>
                        <a:cs typeface="Calibri" charset="0"/>
                      </a:endParaRPr>
                    </a:p>
                  </a:txBody>
                  <a:tcPr marL="91440" marR="91440" marT="45720" marB="45720" anchor="ctr">
                    <a:lnL w="9525" cap="flat" cmpd="sng" algn="ctr">
                      <a:solidFill>
                        <a:srgbClr val="0F3A50"/>
                      </a:solidFill>
                      <a:prstDash val="solid"/>
                      <a:round/>
                      <a:headEnd type="none" w="med" len="med"/>
                      <a:tailEnd type="none" w="med" len="med"/>
                    </a:lnL>
                    <a:lnR w="9525" cap="flat" cmpd="sng" algn="ctr">
                      <a:solidFill>
                        <a:srgbClr val="0F3A50"/>
                      </a:solidFill>
                      <a:prstDash val="solid"/>
                      <a:round/>
                      <a:headEnd type="none" w="med" len="med"/>
                      <a:tailEnd type="none" w="med" len="med"/>
                    </a:lnR>
                    <a:lnT w="9525" cap="flat" cmpd="sng" algn="ctr">
                      <a:solidFill>
                        <a:srgbClr val="0F3A50"/>
                      </a:solidFill>
                      <a:prstDash val="solid"/>
                      <a:round/>
                      <a:headEnd type="none" w="med" len="med"/>
                      <a:tailEnd type="none" w="med" len="med"/>
                    </a:lnT>
                    <a:lnB w="9525" cap="flat" cmpd="sng" algn="ctr">
                      <a:solidFill>
                        <a:srgbClr val="0F3A50"/>
                      </a:solidFill>
                      <a:prstDash val="solid"/>
                      <a:round/>
                      <a:headEnd type="none" w="med" len="med"/>
                      <a:tailEnd type="none" w="med" len="med"/>
                    </a:lnB>
                    <a:solidFill>
                      <a:srgbClr val="10233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822960" cy="822960"/>
          </a:xfrm>
          <a:prstGeom prst="ellipse">
            <a:avLst/>
          </a:prstGeom>
          <a:solidFill>
            <a:srgbClr val="E4EEF3"/>
          </a:solidFill>
          <a:ln/>
        </p:spPr>
      </p:sp>
      <p:pic>
        <p:nvPicPr>
          <p:cNvPr id="3" name="Image 0" descr="preencoded.png">    </p:cNvPr>
          <p:cNvPicPr>
            <a:picLocks noChangeAspect="1"/>
          </p:cNvPicPr>
          <p:nvPr/>
        </p:nvPicPr>
        <p:blipFill>
          <a:blip r:embed="rId1"/>
          <a:stretch>
            <a:fillRect/>
          </a:stretch>
        </p:blipFill>
        <p:spPr>
          <a:xfrm>
            <a:off x="762610" y="671170"/>
            <a:ext cx="395021" cy="395021"/>
          </a:xfrm>
          <a:prstGeom prst="rect">
            <a:avLst/>
          </a:prstGeom>
        </p:spPr>
      </p:pic>
      <p:sp>
        <p:nvSpPr>
          <p:cNvPr id="4" name="Text 1"/>
          <p:cNvSpPr/>
          <p:nvPr/>
        </p:nvSpPr>
        <p:spPr>
          <a:xfrm>
            <a:off x="1600200" y="502920"/>
            <a:ext cx="5486400" cy="731520"/>
          </a:xfrm>
          <a:prstGeom prst="rect">
            <a:avLst/>
          </a:prstGeom>
          <a:noFill/>
          <a:ln/>
        </p:spPr>
        <p:txBody>
          <a:bodyPr wrap="square" rtlCol="0" anchor="ctr"/>
          <a:lstStyle/>
          <a:p>
            <a:pPr indent="0" marL="0">
              <a:buNone/>
            </a:pPr>
            <a:r>
              <a:rPr lang="en-US" sz="2800" b="1" dirty="0">
                <a:solidFill>
                  <a:srgbClr val="1B2A33"/>
                </a:solidFill>
                <a:latin typeface="Cambria" pitchFamily="34" charset="0"/>
                <a:ea typeface="Cambria" pitchFamily="34" charset="-122"/>
                <a:cs typeface="Cambria" pitchFamily="34" charset="-120"/>
              </a:rPr>
              <a:t>partitionBy()</a:t>
            </a:r>
            <a:endParaRPr lang="en-US" sz="2800" dirty="0"/>
          </a:p>
        </p:txBody>
      </p:sp>
      <p:sp>
        <p:nvSpPr>
          <p:cNvPr id="5" name="Shape 2"/>
          <p:cNvSpPr/>
          <p:nvPr/>
        </p:nvSpPr>
        <p:spPr>
          <a:xfrm>
            <a:off x="548640" y="1554480"/>
            <a:ext cx="10881360" cy="685800"/>
          </a:xfrm>
          <a:prstGeom prst="roundRect">
            <a:avLst>
              <a:gd name="adj" fmla="val 8000"/>
            </a:avLst>
          </a:prstGeom>
          <a:solidFill>
            <a:srgbClr val="10233A"/>
          </a:solidFill>
          <a:ln/>
        </p:spPr>
      </p:sp>
      <p:sp>
        <p:nvSpPr>
          <p:cNvPr id="6" name="Text 3"/>
          <p:cNvSpPr/>
          <p:nvPr/>
        </p:nvSpPr>
        <p:spPr>
          <a:xfrm>
            <a:off x="822960" y="1554480"/>
            <a:ext cx="10332720" cy="685800"/>
          </a:xfrm>
          <a:prstGeom prst="rect">
            <a:avLst/>
          </a:prstGeom>
          <a:noFill/>
          <a:ln/>
        </p:spPr>
        <p:txBody>
          <a:bodyPr wrap="square" rtlCol="0" anchor="ctr"/>
          <a:lstStyle/>
          <a:p>
            <a:pPr indent="0" marL="0">
              <a:buNone/>
            </a:pPr>
            <a:r>
              <a:rPr lang="en-US" sz="1500" dirty="0">
                <a:solidFill>
                  <a:srgbClr val="8FF0C0"/>
                </a:solidFill>
                <a:latin typeface="Courier New" pitchFamily="34" charset="0"/>
                <a:ea typeface="Courier New" pitchFamily="34" charset="-122"/>
                <a:cs typeface="Courier New" pitchFamily="34" charset="-120"/>
              </a:rPr>
              <a:t>df.write.partitionBy("year").parquet("path/")</a:t>
            </a:r>
            <a:endParaRPr lang="en-US" sz="1500" dirty="0"/>
          </a:p>
        </p:txBody>
      </p:sp>
      <p:sp>
        <p:nvSpPr>
          <p:cNvPr id="7" name="Text 4"/>
          <p:cNvSpPr/>
          <p:nvPr/>
        </p:nvSpPr>
        <p:spPr>
          <a:xfrm>
            <a:off x="548640" y="2514600"/>
            <a:ext cx="10515600" cy="2194560"/>
          </a:xfrm>
          <a:prstGeom prst="rect">
            <a:avLst/>
          </a:prstGeom>
          <a:noFill/>
          <a:ln/>
        </p:spPr>
        <p:txBody>
          <a:bodyPr wrap="square" rtlCol="0" anchor="ctr"/>
          <a:lstStyle/>
          <a:p>
            <a:pPr marL="342900" indent="-342900">
              <a:lnSpc>
                <a:spcPts val="2400"/>
              </a:lnSpc>
              <a:buSzPct val="100000"/>
              <a:buChar char="•"/>
            </a:pPr>
            <a:r>
              <a:rPr lang="en-US" sz="1500" dirty="0">
                <a:solidFill>
                  <a:srgbClr val="1B2A33"/>
                </a:solidFill>
                <a:latin typeface="Calibri" pitchFamily="34" charset="0"/>
                <a:ea typeface="Calibri" pitchFamily="34" charset="-122"/>
                <a:cs typeface="Calibri" pitchFamily="34" charset="-120"/>
              </a:rPr>
              <a:t>A write-time operation — organizes output into folders by column value</a:t>
            </a:r>
            <a:endParaRPr lang="en-US" sz="1500" dirty="0"/>
          </a:p>
          <a:p>
            <a:pPr marL="342900" indent="-342900">
              <a:lnSpc>
                <a:spcPts val="2400"/>
              </a:lnSpc>
              <a:buSzPct val="100000"/>
              <a:buChar char="•"/>
            </a:pPr>
            <a:r>
              <a:rPr lang="en-US" sz="1500" dirty="0">
                <a:solidFill>
                  <a:srgbClr val="1B2A33"/>
                </a:solidFill>
                <a:latin typeface="Calibri" pitchFamily="34" charset="0"/>
                <a:ea typeface="Calibri" pitchFamily="34" charset="-122"/>
                <a:cs typeface="Calibri" pitchFamily="34" charset="-120"/>
              </a:rPr>
              <a:t>Creates a directory structure like year=2023/, year=2024/, ...</a:t>
            </a:r>
            <a:endParaRPr lang="en-US" sz="1500" dirty="0"/>
          </a:p>
          <a:p>
            <a:pPr marL="342900" indent="-342900">
              <a:lnSpc>
                <a:spcPts val="2400"/>
              </a:lnSpc>
              <a:buSzPct val="100000"/>
              <a:buChar char="•"/>
            </a:pPr>
            <a:r>
              <a:rPr lang="en-US" sz="1500" dirty="0">
                <a:solidFill>
                  <a:srgbClr val="1B2A33"/>
                </a:solidFill>
                <a:latin typeface="Calibri" pitchFamily="34" charset="0"/>
                <a:ea typeface="Calibri" pitchFamily="34" charset="-122"/>
                <a:cs typeface="Calibri" pitchFamily="34" charset="-120"/>
              </a:rPr>
              <a:t>Lets future queries skip entire folders they don't need (partition pruning)</a:t>
            </a:r>
            <a:endParaRPr lang="en-US" sz="1500" dirty="0"/>
          </a:p>
          <a:p>
            <a:pPr marL="342900" indent="-342900">
              <a:lnSpc>
                <a:spcPts val="2400"/>
              </a:lnSpc>
              <a:buSzPct val="100000"/>
              <a:buChar char="•"/>
            </a:pPr>
            <a:r>
              <a:rPr lang="en-US" sz="1500" dirty="0">
                <a:solidFill>
                  <a:srgbClr val="1B2A33"/>
                </a:solidFill>
                <a:latin typeface="Calibri" pitchFamily="34" charset="0"/>
                <a:ea typeface="Calibri" pitchFamily="34" charset="-122"/>
                <a:cs typeface="Calibri" pitchFamily="34" charset="-120"/>
              </a:rPr>
              <a:t>Best on columns with a manageable number of distinct values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Parquet Files &amp; Bucketing</a:t>
            </a:r>
            <a:endParaRPr lang="en-US" sz="3000" dirty="0"/>
          </a:p>
        </p:txBody>
      </p:sp>
      <p:sp>
        <p:nvSpPr>
          <p:cNvPr id="3" name="Shape 1"/>
          <p:cNvSpPr/>
          <p:nvPr/>
        </p:nvSpPr>
        <p:spPr>
          <a:xfrm>
            <a:off x="548640" y="1371600"/>
            <a:ext cx="5303520" cy="3749040"/>
          </a:xfrm>
          <a:prstGeom prst="roundRect">
            <a:avLst>
              <a:gd name="adj" fmla="val 1951"/>
            </a:avLst>
          </a:prstGeom>
          <a:solidFill>
            <a:srgbClr val="F3F7F9"/>
          </a:solidFill>
          <a:ln/>
          <a:effectLst>
            <a:outerShdw sx="100000" sy="100000" kx="0" ky="0" algn="bl" rotWithShape="0" blurRad="76200" dist="25400" dir="2700000">
              <a:srgbClr val="000000">
                <a:alpha val="12000"/>
              </a:srgbClr>
            </a:outerShdw>
          </a:effectLst>
        </p:spPr>
      </p:sp>
      <p:sp>
        <p:nvSpPr>
          <p:cNvPr id="4" name="Shape 2"/>
          <p:cNvSpPr/>
          <p:nvPr/>
        </p:nvSpPr>
        <p:spPr>
          <a:xfrm>
            <a:off x="868680" y="1691640"/>
            <a:ext cx="640080" cy="640080"/>
          </a:xfrm>
          <a:prstGeom prst="ellipse">
            <a:avLst/>
          </a:prstGeom>
          <a:solidFill>
            <a:srgbClr val="E4EEF3"/>
          </a:solidFill>
          <a:ln/>
        </p:spPr>
      </p:sp>
      <p:pic>
        <p:nvPicPr>
          <p:cNvPr id="5" name="Image 0" descr="preencoded.png">    </p:cNvPr>
          <p:cNvPicPr>
            <a:picLocks noChangeAspect="1"/>
          </p:cNvPicPr>
          <p:nvPr/>
        </p:nvPicPr>
        <p:blipFill>
          <a:blip r:embed="rId1"/>
          <a:stretch>
            <a:fillRect/>
          </a:stretch>
        </p:blipFill>
        <p:spPr>
          <a:xfrm>
            <a:off x="1035101" y="1858061"/>
            <a:ext cx="307238" cy="307238"/>
          </a:xfrm>
          <a:prstGeom prst="rect">
            <a:avLst/>
          </a:prstGeom>
        </p:spPr>
      </p:pic>
      <p:sp>
        <p:nvSpPr>
          <p:cNvPr id="6" name="Text 3"/>
          <p:cNvSpPr/>
          <p:nvPr/>
        </p:nvSpPr>
        <p:spPr>
          <a:xfrm>
            <a:off x="1645920" y="1737360"/>
            <a:ext cx="3657600" cy="457200"/>
          </a:xfrm>
          <a:prstGeom prst="rect">
            <a:avLst/>
          </a:prstGeom>
          <a:noFill/>
          <a:ln/>
        </p:spPr>
        <p:txBody>
          <a:bodyPr wrap="square"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Parquet</a:t>
            </a:r>
            <a:endParaRPr lang="en-US" sz="2000" dirty="0"/>
          </a:p>
        </p:txBody>
      </p:sp>
      <p:sp>
        <p:nvSpPr>
          <p:cNvPr id="7" name="Text 4"/>
          <p:cNvSpPr/>
          <p:nvPr/>
        </p:nvSpPr>
        <p:spPr>
          <a:xfrm>
            <a:off x="868680" y="2514600"/>
            <a:ext cx="4663440" cy="2377440"/>
          </a:xfrm>
          <a:prstGeom prst="rect">
            <a:avLst/>
          </a:prstGeom>
          <a:noFill/>
          <a:ln/>
        </p:spPr>
        <p:txBody>
          <a:bodyPr wrap="square" rtlCol="0" anchor="ctr"/>
          <a:lstStyle/>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Columnar file format — stores data by column, not by row</a:t>
            </a:r>
            <a:endParaRPr lang="en-US" sz="1400" dirty="0"/>
          </a:p>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Built-in compression — smaller files on disk</a:t>
            </a:r>
            <a:endParaRPr lang="en-US" sz="1400" dirty="0"/>
          </a:p>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Stores schema with the data, so no need to redefine types</a:t>
            </a:r>
            <a:endParaRPr lang="en-US" sz="1400" dirty="0"/>
          </a:p>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Reads only the columns a query needs</a:t>
            </a:r>
            <a:endParaRPr lang="en-US" sz="1400" dirty="0"/>
          </a:p>
        </p:txBody>
      </p:sp>
      <p:sp>
        <p:nvSpPr>
          <p:cNvPr id="8" name="Shape 5"/>
          <p:cNvSpPr/>
          <p:nvPr/>
        </p:nvSpPr>
        <p:spPr>
          <a:xfrm>
            <a:off x="6126480" y="1371600"/>
            <a:ext cx="5303520" cy="3749040"/>
          </a:xfrm>
          <a:prstGeom prst="roundRect">
            <a:avLst>
              <a:gd name="adj" fmla="val 1951"/>
            </a:avLst>
          </a:prstGeom>
          <a:solidFill>
            <a:srgbClr val="F3F7F9"/>
          </a:solidFill>
          <a:ln/>
          <a:effectLst>
            <a:outerShdw sx="100000" sy="100000" kx="0" ky="0" algn="bl" rotWithShape="0" blurRad="76200" dist="25400" dir="2700000">
              <a:srgbClr val="000000">
                <a:alpha val="12000"/>
              </a:srgbClr>
            </a:outerShdw>
          </a:effectLst>
        </p:spPr>
      </p:sp>
      <p:sp>
        <p:nvSpPr>
          <p:cNvPr id="9" name="Shape 6"/>
          <p:cNvSpPr/>
          <p:nvPr/>
        </p:nvSpPr>
        <p:spPr>
          <a:xfrm>
            <a:off x="6446520" y="1691640"/>
            <a:ext cx="640080" cy="640080"/>
          </a:xfrm>
          <a:prstGeom prst="ellipse">
            <a:avLst/>
          </a:prstGeom>
          <a:solidFill>
            <a:srgbClr val="E4EEF3"/>
          </a:solidFill>
          <a:ln/>
        </p:spPr>
      </p:sp>
      <p:pic>
        <p:nvPicPr>
          <p:cNvPr id="10" name="Image 1" descr="preencoded.png">    </p:cNvPr>
          <p:cNvPicPr>
            <a:picLocks noChangeAspect="1"/>
          </p:cNvPicPr>
          <p:nvPr/>
        </p:nvPicPr>
        <p:blipFill>
          <a:blip r:embed="rId2"/>
          <a:stretch>
            <a:fillRect/>
          </a:stretch>
        </p:blipFill>
        <p:spPr>
          <a:xfrm>
            <a:off x="6612941" y="1858061"/>
            <a:ext cx="307238" cy="307238"/>
          </a:xfrm>
          <a:prstGeom prst="rect">
            <a:avLst/>
          </a:prstGeom>
        </p:spPr>
      </p:pic>
      <p:sp>
        <p:nvSpPr>
          <p:cNvPr id="11" name="Text 7"/>
          <p:cNvSpPr/>
          <p:nvPr/>
        </p:nvSpPr>
        <p:spPr>
          <a:xfrm>
            <a:off x="7223760" y="1737360"/>
            <a:ext cx="3657600" cy="457200"/>
          </a:xfrm>
          <a:prstGeom prst="rect">
            <a:avLst/>
          </a:prstGeom>
          <a:noFill/>
          <a:ln/>
        </p:spPr>
        <p:txBody>
          <a:bodyPr wrap="square"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Bucketing</a:t>
            </a:r>
            <a:endParaRPr lang="en-US" sz="2000" dirty="0"/>
          </a:p>
        </p:txBody>
      </p:sp>
      <p:sp>
        <p:nvSpPr>
          <p:cNvPr id="12" name="Text 8"/>
          <p:cNvSpPr/>
          <p:nvPr/>
        </p:nvSpPr>
        <p:spPr>
          <a:xfrm>
            <a:off x="6446520" y="2514600"/>
            <a:ext cx="4663440" cy="2377440"/>
          </a:xfrm>
          <a:prstGeom prst="rect">
            <a:avLst/>
          </a:prstGeom>
          <a:noFill/>
          <a:ln/>
        </p:spPr>
        <p:txBody>
          <a:bodyPr wrap="square" rtlCol="0" anchor="ctr"/>
          <a:lstStyle/>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Pre-splits data into a fixed number of buckets by hashing a column</a:t>
            </a:r>
            <a:endParaRPr lang="en-US" sz="1400" dirty="0"/>
          </a:p>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Buckets are written once, at write time</a:t>
            </a:r>
            <a:endParaRPr lang="en-US" sz="1400" dirty="0"/>
          </a:p>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Later joins/aggregations on that column can skip re-shuffling</a:t>
            </a:r>
            <a:endParaRPr lang="en-US" sz="1400" dirty="0"/>
          </a:p>
          <a:p>
            <a:pPr marL="342900" indent="-342900">
              <a:lnSpc>
                <a:spcPts val="2200"/>
              </a:lnSpc>
              <a:buSzPct val="100000"/>
              <a:buChar char="•"/>
            </a:pPr>
            <a:r>
              <a:rPr lang="en-US" sz="1400" dirty="0">
                <a:solidFill>
                  <a:srgbClr val="1B2A33"/>
                </a:solidFill>
                <a:latin typeface="Calibri" pitchFamily="34" charset="0"/>
                <a:ea typeface="Calibri" pitchFamily="34" charset="-122"/>
                <a:cs typeface="Calibri" pitchFamily="34" charset="-120"/>
              </a:rPr>
              <a:t>Great for columns queried or joined on repeatedly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 Transformations: Shuffling, Repartitioning &amp; Storage</dc:title>
  <dc:subject>PptxGenJS Presentation</dc:subject>
  <dc:creator>Abdikafar</dc:creator>
  <cp:lastModifiedBy>Abdikafar</cp:lastModifiedBy>
  <cp:revision>1</cp:revision>
  <dcterms:created xsi:type="dcterms:W3CDTF">2026-07-01T15:17:39Z</dcterms:created>
  <dcterms:modified xsi:type="dcterms:W3CDTF">2026-07-01T15:17:39Z</dcterms:modified>
</cp:coreProperties>
</file>